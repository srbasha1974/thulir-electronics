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MODULE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bench, the tools, and the techniques every repair starts with.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383133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 TOOLS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61972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3831336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61972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SOLDER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621024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3831336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21024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DESOLDER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180076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83133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80076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739128" y="3703320"/>
            <a:ext cx="1417320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383133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39128" y="43251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Skills Every Bench Runs 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before you touch your first real repair.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84048" cy="38404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0292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 Tools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cutters, tweezers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use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17993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5483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858" y="2139696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79930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2225650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components to a board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62810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300–400°C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85693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23184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867" y="2139696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85693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Desoldering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390265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parts cleanly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03981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Wick / pump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533949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08853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77" y="2139696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3949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Multimeter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5579669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diagnostic tool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16829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· Ω · A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21095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758586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7886" y="2139696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7210958" y="286207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7256678" y="3227832"/>
            <a:ext cx="1426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board before you touch it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393838" y="3886200"/>
            <a:ext cx="1152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Magnify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BENCH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Repair Bench?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results are only as good as the space you build them in.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dedicated, organised, well-lit surface where every tool has a fixed place and every board has room to breathe.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surgeon's tray — instruments laid out, nothing loose, nothing in the way of the next move.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ESD mat, bright lighting, and a fire extinguisher within reach — non-negotiable basics.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ESD mat + good light = ready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BENCH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Hand Tools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 that live on every bench, every day.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Screwdriver set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Phillips, flathead, and precision bits for tiny casing screws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Cutters &amp; pliers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cutters for leads, long-nose pliers for bending and holding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Tweezers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Fine-tipped, for placing and lifting small SMD parts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Spudgers &amp; prying tools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Plastic, non-conductive — for opening cases without scratches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tool, right job — every time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BENCH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Between Hand Tools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tools, different jobs — pick with intent.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Screwdriver vs nut driver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 drivers grip hex fasteners without camming out like a screwdriver can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Cutters vs long-nose pliers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Cutters trim; long-nose pliers bend, hold, and reach into tight spots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Metal vs plastic spudger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protects delicate plastics and ribbon cables; metal is for tougher clips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 vs standard tweezers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tips for SMD placement; standard tips for general handling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wrong tool damages the part it’s meant to help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BENCH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Up Your Station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of setup saves an hour of searching.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6276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SET UP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surface — one board at a time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mat down and grounded first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within arm’s reach, in fixed spots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" y="29123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overhead light plus a task lamp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447288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53872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MISTAKES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384962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49624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a cluttered or shared surface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559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5594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ESD protection on the bench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" y="44622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" y="446227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and tools crossing the work area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04688" y="1645920"/>
            <a:ext cx="3163824" cy="319582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2197" y="2414839"/>
            <a:ext cx="1328806" cy="132880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41848" y="4384548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tidy bench is a safe, fast bench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Soldering?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 metal to make a permanent electrical joint.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and solder join a component lead to a copper pad, creating both a mechanical bond and an electrical path.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welding in miniature — two metal surfaces fused together by a third, molten 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joint is shiny and cone-shaped. A dull, cracked, or blobby joint is a fault waiting to happen.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Iron tip: 300–400°C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 Wattage &amp; Tip Shapes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shape and power for the joint in front of you.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Conical tip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— fine point for precise, everyday joints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Chisel tip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Wider, flat edge — better heat transfer for larger pads and wires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 / needle tip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SMD work where neighbouring pads sit close together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15–40W vs 60W+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wattage for delicate boards; higher for ground planes and thick wire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the tip to the joint, not the other way round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Tip &amp; Temperature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cold gives a bad joint. Too hot damages the 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tip shape both need to match the joint — too little heat won’t flow solder, too much lifts pads.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cooking on a stove — the right heat cooks evenly; too high just burns the outside.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 sits around 300–350°C. Ground planes and thick pads may need a little more.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350°C covers most everyday joints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Soldering Process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done the same way, every single joint.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 the joint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the iron to both the pad and the lead together, not the solder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the solder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 solder onto the heated joint — not onto the iron tip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 heat, then solder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iron away first, then the solder, and let it set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the result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Shiny, cone-shaped, no bridges to neighbouring pads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 the joint — not the solder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 Good Joint, Every Time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eyes catch most faults before a meter ever does.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JOINT SIGNS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shiny, cone-shaped finish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flows fully onto pad and lead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excess solder or stray bridges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 JOINT SIGNS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Dull, grainy, or cracked surface — a cold joint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balled up, not wetted to the pad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connecting two separate pads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bright light and a loupe catch what eyes alone miss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Soldering a Cracked Joint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that only charged when the cable was wiggled.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charging port works intermittently — jiggling the cable sometimes brings it back to life.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port’s solder joints under magnification and reflow any that look dull or cracked.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cracked joint was making and breaking contact — reflowing it restores a solid connection.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Intermittent faults often trace back to one bad joint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DESOLDERING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Desoldering?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part cleanly, without damaging the board.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Re-melting existing solder so a component can be lifted free, leaving the pad and track intact.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carefully un-gluing something without tearing the paper underneath.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desoldering is the single biggest cause of lifted pads and ruined boards — patience matters more than speed.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 and controlled beats fast and forced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DESOLDERING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Desoldering Tools &amp; Methods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tool that matches the joint.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wick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braid that soaks up melted solder — best for flat pads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sucker (pump)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Spring-loaded vacuum that pulls molten solder from a hole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air rework station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heat for multi-leg parts like ICs — no direct contact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 + wick combo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go-to for most through-hole components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the tool to the joint, not habit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EXAMPLE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Example: Desoldering an IC Without Lifting Pads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Sixteen legs, one chance to get it right.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faulty 16-pin IC needs replacing on a densely-packed board with no room for a heavy hand.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even hot air across all legs at once, then lift the chip once every joint has released.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heating avoids the twisting force that tears a pad off a single-point iron approach.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 evenly, lift once, never pry against a pad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MATERIALS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Solder &amp; Flux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metal and the chemistry behind every joint.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Leaded solder (60/40)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melting point, easier to work with — common in repair shops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Lead-free solder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melting point, required for many new consumer products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Flux-core wire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built into the solder itself for everyday joints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Liquid / paste flux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separately for stubborn joints and SMD rework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is what makes solder flow, not just melt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MATERIALS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Tool &amp; Wire Markings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print, important information.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diameter &amp; alloy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 the spool — e.g. 0.8mm, Sn60Pb40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gauge (AWG)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number means thicker wire and higher current capacity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Screwdriver tip size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 the shaft — PH0, PH1, flat 3mm, and so 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Iron wattage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 the handle or base — matches the tip guidance from earlier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seconds reading a label saves a mismatched joint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TEST EQUIPMENT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Multimeter — Your First Tool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instrument, and you can diagnose most faults.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Plain Terms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meter that measures voltage, resistance, continuity, and current — the first thing you reach for.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Picture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doctor's stethoscope — quick checks that tell you where to look closer.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on the highest safe range, and use a CAT-rated meter matched to what you’re testing.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meter, most answers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TEST EQUIPMENT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Multimeter Settings You’ll Use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modes that cover most bench work.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(V)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power is present — and how much of it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Resistance (Ω)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 component’s value, out of circuit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Continuity / diode mode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Beeps on a closed path — fast fault-finding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(A)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series — rarely needed, easy to get wrong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in doubt, start on the highest range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TEST EQUIPMENT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Display Right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meter is only as good as the read.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READ 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probe colours: red = positive, black = common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reading to settle before recording it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the leads on resistance mode first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 MISTAKES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meter on the wrong function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with the leads in the wrong sockets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reading that’s still jumping around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steady reading is a trustworthy reading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INSPECTION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Inspecting a Board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touch — most clues are visible.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scan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marks, bulging caps, cracked solder, corrosion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Magnification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loupe or microscope reveals hairline cracks the eye misses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first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Isopropyl alcohol removes flux and grime hiding faults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what you find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notes before you start — for reference and proof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fault is often visible before the meter confirms it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TOOL CARE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&amp; Maintaining Your Tools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well-kept tool works better and lasts longer.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Tin the tip before storing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layer of solder stops the tip oxidising between jobs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on a damp sponge or brass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off old solder before every new joint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Wipe down the ESD mat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residue and grime break down its grounding over 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calibration periodically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meter or ESR tester that’s drifted gives false confidence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minutes of care saves an hour of chasing bad readings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TOOL CARE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Bench Tool Failures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clean it, and when to retire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4709160" cy="133959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STILL SERVICEABLE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is oxidised but responds to cleaning and re-tinning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" y="233629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Cutters are slightly dull but still cut cleanly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" y="26243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is used but still absorbs solder well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159252"/>
            <a:ext cx="4709160" cy="139446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3250692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TO REPLACE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" y="35615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356158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is pitted, worn flat, or won’t hold solder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38679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78408" y="38679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Cutters leave a ragged, torn edge on leads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1742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8408" y="417423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leads are cracked or reading inconsistently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04688" y="1645920"/>
            <a:ext cx="3163824" cy="290779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964" y="2324588"/>
            <a:ext cx="1221273" cy="122127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41848" y="4096512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worn tool causes the faults you’re trying to fix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PRACTICAL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Exercise: Solder Ten Clean Joints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list on a practice board before moving to a real repair.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17739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96696" y="16916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station — ESD mat, wrist strap, iron on its stand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19456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27685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276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6696" y="219456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iron to the correct temperature for the joint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277977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" y="269748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ten through-hole joints on a practice 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20040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2826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" y="320040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each joint under magnification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78561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37856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96696" y="370332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 any joint that looks dull, cracked, or blobby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4206240"/>
            <a:ext cx="4709160" cy="4206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" y="428853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288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96696" y="4206240"/>
            <a:ext cx="4087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your instructor check the finished board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04688" y="1691640"/>
            <a:ext cx="3163824" cy="293522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03" y="2378263"/>
            <a:ext cx="1232794" cy="123279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641848" y="4169664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 for ten clean joints in a row, not just one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REPAIR EXERCISE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Exercise: Fix the Bad Joint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 board comes back with five deliberately bad joints.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27632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joints on the board are cold, bridged, or starved of solder — on purpose, for practice.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4088" y="3108960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fault by eye first, then confirm with a loupe before touching the iron.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4709160" cy="9509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904488"/>
            <a:ext cx="4306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D5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Tells You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187952"/>
            <a:ext cx="430682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Reflowing without diagnosing first often just hides a fault instead of fixing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4945" y="2072945"/>
            <a:ext cx="883310" cy="88331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4064508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73368" y="3858768"/>
            <a:ext cx="21579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 the joint before you reach for the iron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QUIZ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through these before moving on to Module 3.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7282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shiny, cone-shaped joint tell you that a dull one doesn’t?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571293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488997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0120" y="2790749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rushing a desoldering job the most common cause of lifted pads?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33207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4977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60120" y="355153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reach for hot air instead of an iron and wick?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409285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1055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0120" y="43123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two signs a soldering iron tip needs replacing, not just cleaning?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927" y="2381555"/>
            <a:ext cx="1171346" cy="11713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641848" y="406908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 as a group before checking the answer key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QUICK REFERENCE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Tool Reference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tool — what it’s for, and what to watch for.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755648"/>
            <a:ext cx="8083296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755648"/>
            <a:ext cx="2057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5808" y="1755648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18888" y="1755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TYPICAL SETTING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175564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FOR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176272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176272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Soldering iron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5808" y="2176272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 leads to pads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176272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300–400°C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04888" y="2176272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Cold, dull joints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74620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674620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Solder wick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5808" y="2674620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Lifting solder off a pad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2674620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braid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04888" y="2674620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Lifted or torn pads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72968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172968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Multimeter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172968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Voltage, Ω, continuity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18888" y="3172968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II+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04888" y="3172968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function selected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671316"/>
            <a:ext cx="8083296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671316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Tweezers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35808" y="3671316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Placing small SMD parts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18888" y="3671316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tip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04888" y="3671316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damage without a strap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169664"/>
            <a:ext cx="8083296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" y="4169664"/>
            <a:ext cx="20574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Loupe / microscope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35808" y="4169664"/>
            <a:ext cx="15087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D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inspection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18888" y="4169664"/>
            <a:ext cx="201168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04888" y="4169664"/>
            <a:ext cx="146304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hairline cracks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0" cy="50292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502920"/>
            <a:ext cx="64008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/>
        </p:spPr>
      </p:sp>
      <p:sp>
        <p:nvSpPr>
          <p:cNvPr id="6" name="Shape 4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FA8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MOD·02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0" y="5020056"/>
            <a:ext cx="502920" cy="0"/>
          </a:xfrm>
          <a:prstGeom prst="line">
            <a:avLst/>
          </a:prstGeom>
          <a:noFill/>
          <a:ln w="12700">
            <a:solidFill>
              <a:srgbClr val="1F4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WRAP-UP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Now…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every recruit should be able to: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" y="1691640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 organised, ESD-safe repair bench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258568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2258568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a clean, reliable joint from scratch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2825496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2944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2825496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Desolder a part without damaging the board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11296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5112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392424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multimeter’s core settings with confidence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959352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078224"/>
            <a:ext cx="256032" cy="256032"/>
          </a:xfrm>
          <a:prstGeom prst="ellipse">
            <a:avLst/>
          </a:prstGeom>
          <a:solidFill>
            <a:srgbClr val="2BD576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0782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" y="3959352"/>
            <a:ext cx="4709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inspect a board before powering it 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0760" y="1783080"/>
            <a:ext cx="2587752" cy="246888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91172" y="1993392"/>
            <a:ext cx="566928" cy="566928"/>
          </a:xfrm>
          <a:prstGeom prst="ellipse">
            <a:avLst/>
          </a:prstGeom>
          <a:solidFill>
            <a:srgbClr val="16291F"/>
          </a:solidFill>
          <a:ln w="19050">
            <a:solidFill>
              <a:srgbClr val="FFB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911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080760" y="2660904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B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RULE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026664"/>
            <a:ext cx="2313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tidy, grounded bench prevents more faults than any single tool ever fixes.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2026-07-28T15:13:41Z</dcterms:created>
  <dcterms:modified xsi:type="dcterms:W3CDTF">2026-07-28T15:13:41Z</dcterms:modified>
</cp:coreProperties>
</file>