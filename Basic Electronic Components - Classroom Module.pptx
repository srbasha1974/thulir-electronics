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 spc="250">
                <a:solidFill>
                  <a:srgbClr val="FFB02E"/>
                </a:solidFill>
                <a:latin typeface="Consolas"/>
              </a:rPr>
              <a:t>FOUNDATIONS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81381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Basic Electronic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2BD576"/>
                </a:solidFill>
                <a:latin typeface="Trebuchet MS"/>
              </a:rPr>
              <a:t>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2761488"/>
            <a:ext cx="7040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8FA89A"/>
                </a:solidFill>
                <a:latin typeface="Calibri"/>
              </a:rPr>
              <a:t>The five parts you'll meet on every repair bench — what each does, how to spot it, and how to test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03320"/>
            <a:ext cx="148132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ym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07" y="3785615"/>
            <a:ext cx="1087553" cy="566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438912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D576"/>
                </a:solidFill>
                <a:latin typeface="Consolas"/>
              </a:rPr>
              <a:t>RESISTOR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189987" y="3703320"/>
            <a:ext cx="148132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ym_capac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875" y="3785615"/>
            <a:ext cx="1087553" cy="5669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89987" y="438912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D576"/>
                </a:solidFill>
                <a:latin typeface="Consolas"/>
              </a:rPr>
              <a:t>CAPACITOR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77055" y="3703320"/>
            <a:ext cx="148132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ym_indu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943" y="3785615"/>
            <a:ext cx="1087553" cy="56692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877055" y="438912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D576"/>
                </a:solidFill>
                <a:latin typeface="Consolas"/>
              </a:rPr>
              <a:t>INDUCTOR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64123" y="3703320"/>
            <a:ext cx="148132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ym_di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1011" y="3785615"/>
            <a:ext cx="1087553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64123" y="438912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D576"/>
                </a:solidFill>
                <a:latin typeface="Consolas"/>
              </a:rPr>
              <a:t>DIODE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51191" y="3703320"/>
            <a:ext cx="1481328" cy="960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ym_transis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0665" y="3785615"/>
            <a:ext cx="1022381" cy="56692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51191" y="4389120"/>
            <a:ext cx="1481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 i="0">
                <a:solidFill>
                  <a:srgbClr val="2BD576"/>
                </a:solidFill>
                <a:latin typeface="Consolas"/>
              </a:rPr>
              <a:t>TRANSISTOR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The Five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Every circuit you'll ever repair is built from these five parts.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al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5" y="2135547"/>
            <a:ext cx="621792" cy="3923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48640" y="2862072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Resistor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2278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Limits current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886200"/>
            <a:ext cx="1152143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886200"/>
            <a:ext cx="11521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Ohms (Ω)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80844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55748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al_capac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2135547"/>
            <a:ext cx="621792" cy="3923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226564" y="2862072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Capacitor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3996" y="32278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Stores charge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63724" y="3886200"/>
            <a:ext cx="1152143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63724" y="3886200"/>
            <a:ext cx="11521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B02E"/>
                </a:solidFill>
                <a:latin typeface="Consolas"/>
              </a:rPr>
              <a:t>Farads (F)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58768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33672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real_induc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2135547"/>
            <a:ext cx="621792" cy="39234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3904488" y="2862072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Inductor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32278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Stores energy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41648" y="3886200"/>
            <a:ext cx="1152143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41648" y="3886200"/>
            <a:ext cx="11521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Henrys (H)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6692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911596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real_di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748" y="2135547"/>
            <a:ext cx="621792" cy="3923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582412" y="2862072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Diode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9844" y="32278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One-way valve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19572" y="3886200"/>
            <a:ext cx="1152143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19572" y="3886200"/>
            <a:ext cx="11521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B02E"/>
                </a:solidFill>
                <a:latin typeface="Consolas"/>
              </a:rPr>
              <a:t>Vf (V)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14616" y="1783080"/>
            <a:ext cx="1517904" cy="26974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589520" y="1947672"/>
            <a:ext cx="768096" cy="768096"/>
          </a:xfrm>
          <a:prstGeom prst="ellipse">
            <a:avLst/>
          </a:prstGeom>
          <a:solidFill>
            <a:srgbClr val="16291F"/>
          </a:solidFill>
          <a:ln w="22225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real_transis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2128346"/>
            <a:ext cx="621792" cy="40674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260336" y="2862072"/>
            <a:ext cx="1426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Transistor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87768" y="32278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Switch / amplify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97496" y="3886200"/>
            <a:ext cx="1152143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97496" y="3886200"/>
            <a:ext cx="1152143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Gain (hFE)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Is a Resistor?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tiny part that pushes back against electric current — on purpose.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resistor limits how much current can flow. More resistance means less current gets through.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Real-World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Like a narrow section in a water pipe — it slows the flow without stopping it.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Key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Passive part · fits either way (no polarity) · measured in ohms (Ω).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67567"/>
            <a:ext cx="2889504" cy="182324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resi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10" y="3986783"/>
            <a:ext cx="1175259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a Resistor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Without one, most circuits would let too much current through — and burn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61947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719072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Protects parts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29968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Limits current into LEDs and delicate chips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23184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480310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Sets voltage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91206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Two resistors in series make a voltage divider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84423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241548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Controls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3552444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Brightness, motor speed, or volume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45660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02785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Pull-up / pull-down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13682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Holds a signal line steady HIGH or 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143669"/>
            <a:ext cx="2871216" cy="18117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160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Through-hole, SMD and variable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Spot It &amp; Read Its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colour bands — or a printed code — tell you the value at a glance.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Through-hole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4 colour bands = 2 digits + a multiplier + tolerance. Read from the band nearest an end.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SMD chip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printed number: 103 means 10 then 3 zeros = 10 000 Ω (10 kΩ).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Power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bigger body handles more watts — 1/4 W is the everyday size.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color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97949"/>
            <a:ext cx="2871216" cy="18117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1696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Brown-Black-Red-Gold = 1 kΩ ±5%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 It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One meter setting tells you whether a resistor is still good.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709160" cy="15727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2BD576"/>
                </a:solidFill>
                <a:latin typeface="Consolas"/>
              </a:rPr>
              <a:t>HOW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Power OFF; measure best out-of-circuit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362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Set the meter to Ω (resistance)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24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Touch one probe to each lead — either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123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Reading should match the marked 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4709160" cy="137160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6B6B"/>
                </a:solidFill>
                <a:latin typeface="Consolas"/>
              </a:rPr>
              <a:t>FAILURE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39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Reads open / OL (∞) → burnt or cracked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553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55363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Charred or discoloured body → overheated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361688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Value drifted far high → out of spec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688" y="1645920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_multi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6373"/>
            <a:ext cx="2560320" cy="2157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3342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Digital multimeter — your first tool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Resistor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How resistors are classified — and what each branch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pic>
        <p:nvPicPr>
          <p:cNvPr id="13" name="Picture 12" descr="tree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756" y="1536192"/>
            <a:ext cx="5532487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Linear obeys Ohm's law — R stays constant. Non-Linear changes R with heat, light or voltage.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RESISTOR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Resistor Types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type is made of,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4592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45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45920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4592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9968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29968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29968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Film or wirewound on a ceramic rod; also SMD chips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29968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One set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29968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Current limiting, biasing, pull-ups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5806"/>
            <a:ext cx="8229600" cy="53583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565806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565806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A wiper sliding on a resistive track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565806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User-adjustable 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565806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Volume &amp; brightness knobs, trimmers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01644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101644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Thermistor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101644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Metal-oxide bead; R changes with heat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3101644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Sense temperature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3101644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Inrush limiting, temperature probes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37483"/>
            <a:ext cx="8229600" cy="53583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637483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Photoresistor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637483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CdS film; R falls as light rises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637483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Sense light level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637483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Auto night-lights, dusk switches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73321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173321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Varistor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4173321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Zinc-oxide grains; R drops above a set 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4173321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Clamp voltage surges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4173321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Mains surge protection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Is a Capacitor?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tiny tank that stores electric charge — and gives it back fast.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Stores charge on two plates split by an insulator; it charges and discharges very quickly.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Real-World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small water tank — it fills up, then empties on demand.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Key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Measured in farads (F) — real parts in µF, nF, pF. Electrolytics are polarized: + and − matter!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67567"/>
            <a:ext cx="2889504" cy="182324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capac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10" y="3986783"/>
            <a:ext cx="1175259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a Capacitor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busiest part on any power board — it stores, smooths, and steadies.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61947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719072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Smooths power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29968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Flattens bumpy DC after the rectifier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23184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480310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Blocks DC, passes AC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91206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Couples a signal between two stages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84423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241548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Decoupling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3552444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A local energy reserve beside each chip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45660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02785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13682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With a resistor, sets delays and speeds (RC)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143669"/>
            <a:ext cx="2871216" cy="18117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160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Electrolytic, ceramic and film types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Spot It &amp; Read Its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Read the printed value — and never ignore the voltage rating or polarity.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Electrolytic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Value + voltage printed (470 µF 25 V). A stripe marks the negative (−) leg.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Ceramic disc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3-digit code: 104 = 10 then 4 zeros pF = 100 nF.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Always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The voltage rating, and — for electrolytics — the polarity.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97949"/>
            <a:ext cx="2871216" cy="18117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1696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470 µF 25 V electrolytic · 104 ceramic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 It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Bulging caps are the number-one cause of dead power supplies.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709160" cy="15727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2BD576"/>
                </a:solidFill>
                <a:latin typeface="Consolas"/>
              </a:rPr>
              <a:t>HOW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DISCHARGE the cap first — it can shock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362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Set the meter to capacitance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24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Compare the reading to the printed µF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123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An ESR meter checks caps in-circuit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4709160" cy="137160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6B6B"/>
                </a:solidFill>
                <a:latin typeface="Consolas"/>
              </a:rPr>
              <a:t>FAILURE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39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Bulging or vented top → replace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553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55363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Leaked or crusty electrolyte → replace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361688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Reads open or way low → worn 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688" y="1645920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_multi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6373"/>
            <a:ext cx="2560320" cy="2157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3342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Digital multimeter — your first tool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Capacitor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How capacitors are classified — and what each branch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pic>
        <p:nvPicPr>
          <p:cNvPr id="13" name="Picture 12" descr="tree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6" y="1536192"/>
            <a:ext cx="6052446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Grouped by dielectric and polarity — polarised types must go in the right way round.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CAPACITOR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Capacitor Types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type is made of,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4592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45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45920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4592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9968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29968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Ceramic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29968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Ceramic dielectric in stacked layers; non-polar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29968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Small value, high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29968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Decoupling &amp; filtering beside 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565806"/>
            <a:ext cx="8229600" cy="53583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565806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Film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565806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Plastic-film dielectric; stable, non-polar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565806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Accurate mid-range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565806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Audio, timing, snubbers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101644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101644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Electrolytic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3101644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Etched foil + wet electrolyte; polarised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3101644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Bulk energy storage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3101644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PSU smoothing / reservoir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637483"/>
            <a:ext cx="8229600" cy="53583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637483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Tantalum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637483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Tantalum powder + oxide; polarised, compact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637483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High value, small size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637483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Rail decoupling on tight boards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173321"/>
            <a:ext cx="8229600" cy="53583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4173321"/>
            <a:ext cx="1389888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4173321"/>
            <a:ext cx="2505456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Overlapping plates moved by a screw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4173321"/>
            <a:ext cx="1673351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Set-once fine tuning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4173321"/>
            <a:ext cx="1874519" cy="5358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RF tuning, oscillator trim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Is an Inductor?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coil of wire that stores energy in a magnetic field.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Current through the coil builds a magnetic field; it resists sudden changes in current.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Real-World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heavy flywheel — hard to get spinning, and hard to stop once it 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Key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Measured in henrys (H) — real parts in µH, mH · no polarity · just a coil on a core.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i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67567"/>
            <a:ext cx="2889504" cy="182324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indu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10" y="3986783"/>
            <a:ext cx="1175259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an Inductor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Quietly essential — it shapes current and stores energy between switches.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61947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719072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Smooths current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29968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With a capacitor, forms an LC filter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23184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480310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Stores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91206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The heart of switch-mode supplies (buck/boost)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84423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241548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Blocks noise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3552444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Ferrite beads and chokes kill high-freq hash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45660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02785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Building block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13682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Of transformers, motors and relays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i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143669"/>
            <a:ext cx="2871216" cy="18117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160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Toroid and drum-core types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Spot It &amp; Read Its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It hides in plain sight — sometimes it even looks like a resistor.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Shapes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colour-banded axial part, a drum wound with copper, or a ring (toroid).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Given in µH / mH; some use a number code like resistors.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Current handling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Thicker wire and a bigger core = more current.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i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97949"/>
            <a:ext cx="2871216" cy="18117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1696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Toroid (left) · drum choke (right)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 It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coil is nearly a plain wire — so a good one barely resists at all.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709160" cy="15727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2BD576"/>
                </a:solidFill>
                <a:latin typeface="Consolas"/>
              </a:rPr>
              <a:t>HOW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Set the meter to Ω (resistance)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362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A healthy coil reads very LOW 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24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Open / OL (∞) means a broken winding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123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An LCR meter reads true inductance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4709160" cy="137160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6B6B"/>
                </a:solidFill>
                <a:latin typeface="Consolas"/>
              </a:rPr>
              <a:t>FAILURE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39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Open / OL → broken winding, replace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553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55363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Burnt varnish or smell → overheated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361688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Cracked ferrite core → damaged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688" y="1645920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_multi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6373"/>
            <a:ext cx="2560320" cy="2157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3342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Digital multimeter — your first tool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Inductor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How inductors are classified — and what each branch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pic>
        <p:nvPicPr>
          <p:cNvPr id="13" name="Picture 12" descr="tree_indu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6" y="1536192"/>
            <a:ext cx="6052446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Grouped mainly by core material, which sets how much energy they store and at what frequency.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INDUCTOR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Inductor Types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type is made of,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4592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45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45920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4592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9968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2996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Air-core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2996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Coil wound with no magnetic 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2996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Low L, no core loss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2996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RF tuning, high-freq filters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76500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476500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Iron-core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476500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Coil on a laminated iron 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476500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Large L at low frequency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476500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Mains transformers, chokes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23032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2923032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Ferrite-core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2923032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Coil on a ceramic ferrite 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2923032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Efficient at high frequency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2923032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SMPS, EMI filtering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9564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369564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Toroidal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369564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Wire wound on a ring-shaped 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369564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Low leakage, compact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369564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Power supplies, audio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16096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816096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Choke / Bead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3816096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Ferrite slipped over a wire or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3816096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Block high-freq noise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3816096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Cable &amp; rail noise suppression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62628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426262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Variable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426262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Coil with a movable 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895" y="426262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Tunable inductance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7415" y="426262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RF &amp; radio tuning stages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Is a Diode?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one-way valve for electric current.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Lets current flow one way (anode → cathode) and blocks the other. Needs ~0.7 V to start.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Real-World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turnstile — it only lets people through in one direction.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Key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Has polarity — a stripe marks the cathode (−). Silicon drop ≈ 0.7 V; Schottky ≈ 0.3 V.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1767567"/>
            <a:ext cx="2889504" cy="1823249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di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310" y="3986783"/>
            <a:ext cx="1175259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a Diode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same one-way trick powers four very different jobs.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61947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719072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Rectifies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29968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Turns AC into DC (bridge rectifier)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23184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480310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Protects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91206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Blocks reverse polarity; clamps voltage spikes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84423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241548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Emits light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3552444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An LED lights when forward-biased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45660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02785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References voltage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13682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A Zener holds a steady reference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97489"/>
            <a:ext cx="2871216" cy="190406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160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An LED is a diode that glows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Spot It &amp; Read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stripe and the part number tell you everything you need.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The stripe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Marks the cathode (−) end — current exits 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Part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1N4001–1N4007 = mains rectifiers; 1N4148 = fast signal.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LED legs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The longer leg is the anode (+); the flat side is the cathode.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97949"/>
            <a:ext cx="2871216" cy="18117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1696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1N4007 rectifier — stripe = cathode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 It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Diode mode reads the junction directly — a 10-second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709160" cy="15727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2BD576"/>
                </a:solidFill>
                <a:latin typeface="Consolas"/>
              </a:rPr>
              <a:t>HOW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Set the meter to DIODE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362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Red on anode, black on cathode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24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Good: reads ≈ 0.5–0.7 V one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123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Swap the probes: should read OL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4709160" cy="137160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6B6B"/>
                </a:solidFill>
                <a:latin typeface="Consolas"/>
              </a:rPr>
              <a:t>FAILURE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39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Short (≈0 both ways) → blown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553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55363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Open (OL both ways) → blown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361688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Very common power-supply failure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688" y="1645920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_multi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6373"/>
            <a:ext cx="2560320" cy="2157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3342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Digital multimeter — your first tool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Diode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How diodes are classified — and what each branch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pic>
        <p:nvPicPr>
          <p:cNvPr id="13" name="Picture 12" descr="tree_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6" y="1536192"/>
            <a:ext cx="6052446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All share the one-way PN junction — the type sets speed, voltage drop and what it protects.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DIODE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Diode Types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type is made of,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4592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45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45920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4592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9968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2996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Rectifier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2996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Large silicon PN junction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2996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AC to DC at high 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2996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PSU bridge (1N4007)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76500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476500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Schottky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476500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Metal-to-semiconductor junction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476500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Low drop, very fast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476500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SMPS, reverse-polarity guard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23032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2923032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Zener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2923032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Doped junction run in reverse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2923032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Hold a fixed voltage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2923032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Voltage reference / clamp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9564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369564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Switching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369564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Small, fast PN junction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369564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Fast low-current on/off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369564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Logic &amp; signal (1N4148)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16096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816096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LED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3816096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Compound junction that emits light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3816096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Indicate / illuminate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3816096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Indicators, displays, lighting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62628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426262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TVS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426262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Rugged junction that clamps fast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895" y="426262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Absorb transient spikes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7415" y="426262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Port &amp; ESD protection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Is a Transistor?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An electrically-controlled switch and amplifier.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In Plain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small current or voltage on one leg controls a much bigger current through the other two.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Real-World Picture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A tap where a light touch controls a big flow of water.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Key 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Three legs — BJT: Base, Collector, Emitter; MOSFET: Gate, Drain, Source. The building block of every chip.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627632"/>
            <a:ext cx="3163824" cy="21031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762" y="1764792"/>
            <a:ext cx="2795674" cy="182880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5504688" y="3858768"/>
            <a:ext cx="3163824" cy="86868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ym_transis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24" y="3986783"/>
            <a:ext cx="1104831" cy="6126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196327" y="3858768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2BD576"/>
                </a:solidFill>
                <a:latin typeface="Consolas"/>
              </a:rPr>
              <a:t>Schematic symbol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What a Transistor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Two simple jobs that add up to all of modern electronics.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1861947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719072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Switching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029968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Turn motors, relays and LEDs on/off from a tiny signal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2623184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4984" y="2480310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Amplifying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" y="2791206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Make weak signals — like audio — stronger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384423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" y="3241548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BJT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4" y="3552444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Controlled by a small base current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145660"/>
            <a:ext cx="365760" cy="365760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BD576"/>
                </a:solidFill>
                <a:latin typeface="Consola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002785"/>
            <a:ext cx="41970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FFFFFF"/>
                </a:solidFill>
                <a:latin typeface="Trebuchet MS"/>
              </a:rPr>
              <a:t>MOSFET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984" y="4313682"/>
            <a:ext cx="4197096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8FA89A"/>
                </a:solidFill>
                <a:latin typeface="Calibri"/>
              </a:rPr>
              <a:t>Controlled by gate voltage; runs power &amp;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eal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110416"/>
            <a:ext cx="2871216" cy="187821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577840" y="4160520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TO-92 small-signal · TO-220 power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Spot It &amp; Read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package and the printed number reveal what you're holding.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4650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Part number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29968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BC547, 2N2222 (small signal); TIP122, IRFZ44N (power).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06624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825496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Package =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108960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TO-92 is small-signal; TO-220 with a metal tab is power.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785615"/>
            <a:ext cx="4709160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904487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BD576"/>
                </a:solidFill>
                <a:latin typeface="Trebuchet MS"/>
              </a:rPr>
              <a:t>Check the datasheet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4187952"/>
            <a:ext cx="4306824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E6F0EA"/>
                </a:solidFill>
                <a:latin typeface="Calibri"/>
              </a:rPr>
              <a:t>Pin order changes by part — always confirm before wiring.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1737360"/>
            <a:ext cx="3163824" cy="27889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real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2064696"/>
            <a:ext cx="2871216" cy="18782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577840" y="4169663"/>
            <a:ext cx="30175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2BD576"/>
                </a:solidFill>
                <a:latin typeface="Consolas"/>
              </a:rPr>
              <a:t>TO-92 (left) · TO-220 power (right)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Test It on the 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good BJT behaves like two diodes joined back-to-back at the base.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45920"/>
            <a:ext cx="4709160" cy="15727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1737360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2BD576"/>
                </a:solidFill>
                <a:latin typeface="Consolas"/>
              </a:rPr>
              <a:t>HOW TO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048256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048256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Set the meter to DIODE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33629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36292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Base→Emitter reads ≈0.7 V one 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" y="2624328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24328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Base→Collector reads ≈0.7 V one 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12364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B02E"/>
                </a:solidFill>
                <a:latin typeface="Consola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2912364"/>
            <a:ext cx="4023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6F0EA"/>
                </a:solidFill>
                <a:latin typeface="Calibri"/>
              </a:rPr>
              <a:t>Both read OL with probes reversed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346704"/>
            <a:ext cx="4709160" cy="137160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438144"/>
            <a:ext cx="4306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6B6B"/>
                </a:solidFill>
                <a:latin typeface="Consolas"/>
              </a:rPr>
              <a:t>FAILURE SIGNS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74903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3749039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Collector–Emitter short (≈0) → blown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40553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55363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Any junction open both ways → blown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" y="43616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6B6B"/>
                </a:solidFill>
                <a:latin typeface="Consolas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4361688"/>
            <a:ext cx="40507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Common in switching / power faults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04688" y="1645920"/>
            <a:ext cx="3163824" cy="307238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_multime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966373"/>
            <a:ext cx="2560320" cy="215715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577840" y="43342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Digital multimeter — your first tool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Types of Transistor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How transistors are classified — and what each branch means.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pic>
        <p:nvPicPr>
          <p:cNvPr id="13" name="Picture 12" descr="tree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776" y="1536192"/>
            <a:ext cx="6052446" cy="276148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2920" y="4407408"/>
            <a:ext cx="8138160" cy="4754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4407408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 SPLITS   </a:t>
            </a:r>
            <a:r>
              <a:rPr sz="1100" b="0" i="0">
                <a:solidFill>
                  <a:srgbClr val="E6F0EA"/>
                </a:solidFill>
                <a:latin typeface="Calibri"/>
              </a:rPr>
              <a:t>Two big families: current-controlled BJTs and voltage-controlled FETs, plus power hybrids.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FOUNDATIONS · TRANSISTOR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Transistor Types — Build, Purpose &amp; 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What each type is made of, what it's for, and where you'll meet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8229600" cy="384048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1645920"/>
            <a:ext cx="138988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57984" y="1645920"/>
            <a:ext cx="25420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HOW IT'S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5" y="1645920"/>
            <a:ext cx="1691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PURPOSE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7415" y="1645920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EXAMPLE USE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029968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5216" y="202996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NPN BJT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57984" y="202996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N-P-N silicon; current-controlled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82895" y="202996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Switch/amplify (on with base 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57415" y="202996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Low-side switch, audio (BC547)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76500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5216" y="2476500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PNP BJT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7984" y="2476500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P-N-P silicon; current-controlled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2895" y="2476500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High-side switching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5" y="2476500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Load switch (BC557)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923032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2923032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JFET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57984" y="2923032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Channel pinched by gate voltage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82895" y="2923032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High-impedance amplifier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7415" y="2923032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Sensor front-ends, audio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3369564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3369564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MOSFET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57984" y="3369564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Insulated gate over a 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82895" y="3369564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Efficient V-controlled switch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57415" y="3369564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SMPS, motor drivers (IRFZ44)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816096"/>
            <a:ext cx="8229600" cy="44653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5216" y="3816096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IGBT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57984" y="3816096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MOSFET gate + BJT output stage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82895" y="3816096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Switch high V and current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57415" y="3816096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Inverters, induction heaters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262628"/>
            <a:ext cx="8229600" cy="44653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" y="4262628"/>
            <a:ext cx="1389888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Darlington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57984" y="4262628"/>
            <a:ext cx="2505456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Two BJTs cascaded together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82895" y="4262628"/>
            <a:ext cx="1673351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Very high current gain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57415" y="4262628"/>
            <a:ext cx="1874519" cy="4465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2BD576"/>
                </a:solidFill>
                <a:latin typeface="Calibri"/>
              </a:rPr>
              <a:t>Relay &amp; lamp drivers (TIP122)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REPAIR BENCH ·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Quick Test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One line per part — the meter setting, a healthy reading, and a bad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55648"/>
            <a:ext cx="8138160" cy="420624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755648"/>
            <a:ext cx="214883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FFB02E"/>
                </a:solidFill>
                <a:latin typeface="Consolas"/>
              </a:rPr>
              <a:t>COMPONENT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62656" y="1755648"/>
            <a:ext cx="1600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FFB02E"/>
                </a:solidFill>
                <a:latin typeface="Consolas"/>
              </a:rPr>
              <a:t>METER SETTING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1755648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FFB02E"/>
                </a:solidFill>
                <a:latin typeface="Consolas"/>
              </a:rPr>
              <a:t>GOOD READING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1755648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00">
                <a:solidFill>
                  <a:srgbClr val="FFB02E"/>
                </a:solidFill>
                <a:latin typeface="Consolas"/>
              </a:rPr>
              <a:t>BAD READING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176272"/>
            <a:ext cx="8138160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176272"/>
            <a:ext cx="2148839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Resistor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62656" y="2176272"/>
            <a:ext cx="1600200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Ohms (Ω)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45736" y="2176272"/>
            <a:ext cx="2066543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= marked value (±tol.)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31736" y="2176272"/>
            <a:ext cx="1517904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Open / OL, or way off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674620"/>
            <a:ext cx="8138160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" y="2674620"/>
            <a:ext cx="2148839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Capacitor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62656" y="2674620"/>
            <a:ext cx="1600200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Capacitance / ESR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2674620"/>
            <a:ext cx="2066543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= marked µF, low ESR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1736" y="2674620"/>
            <a:ext cx="1517904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Bulged, open or leaky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172968"/>
            <a:ext cx="8138160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" y="3172968"/>
            <a:ext cx="2148839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Inductor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62656" y="3172968"/>
            <a:ext cx="1600200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Ohms (Ω)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5736" y="3172968"/>
            <a:ext cx="2066543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Very low Ω (near short)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31736" y="3172968"/>
            <a:ext cx="1517904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Open / 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671315"/>
            <a:ext cx="8138160" cy="498348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" y="3671315"/>
            <a:ext cx="2148839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Diode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62656" y="3671315"/>
            <a:ext cx="1600200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Diode mode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45736" y="3671315"/>
            <a:ext cx="2066543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0.5–0.7 V one way, OL 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31736" y="3671315"/>
            <a:ext cx="1517904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Short or open both ways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169663"/>
            <a:ext cx="8138160" cy="49834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" y="4169663"/>
            <a:ext cx="2148839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Transistor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62656" y="4169663"/>
            <a:ext cx="1600200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Diode mode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45736" y="4169663"/>
            <a:ext cx="2066543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0.7 V B–E &amp; B–C one 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31736" y="4169663"/>
            <a:ext cx="1517904" cy="4983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Shorted C–E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Build It, Read It, Measure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Four projects turn the five components into working circuits — and drill the three core bench skills.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416052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67512" y="1901952"/>
            <a:ext cx="512064" cy="512064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1901952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BD576"/>
                </a:solidFill>
                <a:latin typeface="Trebuchet MS"/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37944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Read a schematic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148840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Follow symbols, nodes and part labels from paper to board.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34056"/>
            <a:ext cx="416052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" y="2944368"/>
            <a:ext cx="512064" cy="512064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94436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BD576"/>
                </a:solidFill>
                <a:latin typeface="Trebuchet M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2880360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Solder clean joints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191256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Sockets first, shiny joints, right order — no cold or bridged pads.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76472"/>
            <a:ext cx="416052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7512" y="3986784"/>
            <a:ext cx="512064" cy="512064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3986784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BD576"/>
                </a:solidFill>
                <a:latin typeface="Trebuchet MS"/>
              </a:rPr>
              <a:t>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922776"/>
            <a:ext cx="31546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rebuchet MS"/>
              </a:rPr>
              <a:t>Measure &amp; 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233672"/>
            <a:ext cx="3154679" cy="429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8FA89A"/>
                </a:solidFill>
                <a:latin typeface="Calibri"/>
              </a:rPr>
              <a:t>Prove the circuit with a multimeter — volts, current, continuity.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19472" y="1691640"/>
            <a:ext cx="3749039" cy="3017520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0" y="1819656"/>
            <a:ext cx="33467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 spc="150">
                <a:solidFill>
                  <a:srgbClr val="FFB02E"/>
                </a:solidFill>
                <a:latin typeface="Consolas"/>
              </a:rPr>
              <a:t>THE PROJECT LADDER</a:t>
            </a:r>
          </a:p>
        </p:txBody>
      </p:sp>
      <p:sp>
        <p:nvSpPr>
          <p:cNvPr id="30" name="Oval 29"/>
          <p:cNvSpPr/>
          <p:nvPr/>
        </p:nvSpPr>
        <p:spPr>
          <a:xfrm>
            <a:off x="5120640" y="2315718"/>
            <a:ext cx="438912" cy="438912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2315718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BD576"/>
                </a:solidFill>
                <a:latin typeface="Consola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96712" y="2224278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LED Indicator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96712" y="2516886"/>
            <a:ext cx="2834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Beginner · 30 min   </a:t>
            </a:r>
            <a:r>
              <a:rPr sz="950" b="1" i="0">
                <a:solidFill>
                  <a:srgbClr val="2BD576"/>
                </a:solidFill>
                <a:latin typeface="Consolas"/>
              </a:rPr>
              <a:t>R · LED</a:t>
            </a:r>
          </a:p>
        </p:txBody>
      </p:sp>
      <p:sp>
        <p:nvSpPr>
          <p:cNvPr id="34" name="Oval 33"/>
          <p:cNvSpPr/>
          <p:nvPr/>
        </p:nvSpPr>
        <p:spPr>
          <a:xfrm>
            <a:off x="5120640" y="2905506"/>
            <a:ext cx="438912" cy="438912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20640" y="2905506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BD576"/>
                </a:solidFill>
                <a:latin typeface="Consolas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96712" y="2814066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555 LED Flasher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6712" y="3106674"/>
            <a:ext cx="2834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Beginner+ · 1 hr   </a:t>
            </a:r>
            <a:r>
              <a:rPr sz="950" b="1" i="0">
                <a:solidFill>
                  <a:srgbClr val="2BD576"/>
                </a:solidFill>
                <a:latin typeface="Consolas"/>
              </a:rPr>
              <a:t>R · C · LED · IC</a:t>
            </a:r>
          </a:p>
        </p:txBody>
      </p:sp>
      <p:sp>
        <p:nvSpPr>
          <p:cNvPr id="38" name="Oval 37"/>
          <p:cNvSpPr/>
          <p:nvPr/>
        </p:nvSpPr>
        <p:spPr>
          <a:xfrm>
            <a:off x="5120640" y="3495294"/>
            <a:ext cx="438912" cy="438912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3495294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BD576"/>
                </a:solidFill>
                <a:latin typeface="Consolas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96712" y="3403854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Transistor Relay Driver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96712" y="3696462"/>
            <a:ext cx="2834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Intermediate · 1 hr   </a:t>
            </a:r>
            <a:r>
              <a:rPr sz="950" b="1" i="0">
                <a:solidFill>
                  <a:srgbClr val="2BD576"/>
                </a:solidFill>
                <a:latin typeface="Consolas"/>
              </a:rPr>
              <a:t>Q · R · D · coil</a:t>
            </a:r>
          </a:p>
        </p:txBody>
      </p:sp>
      <p:sp>
        <p:nvSpPr>
          <p:cNvPr id="42" name="Oval 41"/>
          <p:cNvSpPr/>
          <p:nvPr/>
        </p:nvSpPr>
        <p:spPr>
          <a:xfrm>
            <a:off x="5120640" y="4085081"/>
            <a:ext cx="438912" cy="438912"/>
          </a:xfrm>
          <a:prstGeom prst="ellipse">
            <a:avLst/>
          </a:prstGeom>
          <a:solidFill>
            <a:srgbClr val="16291F"/>
          </a:solidFill>
          <a:ln w="19050">
            <a:solidFill>
              <a:srgbClr val="2BD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20640" y="4085081"/>
            <a:ext cx="4389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BD576"/>
                </a:solidFill>
                <a:latin typeface="Consolas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96712" y="3993641"/>
            <a:ext cx="28346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rebuchet MS"/>
              </a:rPr>
              <a:t>Mini DC Power Supply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96712" y="4286250"/>
            <a:ext cx="28346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8FA89A"/>
                </a:solidFill>
                <a:latin typeface="Consolas"/>
              </a:rPr>
              <a:t>Intermediate · 1.5 hr   </a:t>
            </a:r>
            <a:r>
              <a:rPr sz="950" b="1" i="0">
                <a:solidFill>
                  <a:srgbClr val="2BD576"/>
                </a:solidFill>
                <a:latin typeface="Consolas"/>
              </a:rPr>
              <a:t>D · C · coil · 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LED Indicator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The simplest working circuit — a resistor protecting an 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271" y="1737360"/>
            <a:ext cx="2821816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BEGINNER · 30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Resistor  ·  LED (diode)  ·  9V battery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9V battery + clip, 470 Ω resistor, one LED, a piece of perfboard.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Read the schematic — it's one series loop.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Mount R1 and the LED; mind the LED's flat side.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Solder each joint shiny, not blobby.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Battery reads ≈ 9 V.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LED forward drop ≈ 2 V.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Current ≈ 15 mA  (V across R ÷ 470).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LED Indicator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each part sits where it does, how the value is set, and what breaks if it's gone.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Voltage left for R1 = 9V − 2V (LED) = 7V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R = V ÷ I = 7V ÷ 0.02A = 350Ω   →   use next standard 470Ω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Bench check: I = 7V ÷ 470Ω ≈ 15 mA — safe for the LED.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57607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R1 470Ω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In series with the LED to cap current to a safe ~15 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Shorted/gone: LED gets full current and burns out. Open: LED dark.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57016"/>
            <a:ext cx="8046720" cy="576072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557016"/>
            <a:ext cx="116128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LED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557016"/>
            <a:ext cx="320954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The indicator load; lights only with current flowing the right way.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557016"/>
            <a:ext cx="31089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Reversed or open: dark (0 mA). Shorted: R1 overheats.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133088"/>
            <a:ext cx="8046720" cy="576072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4133088"/>
            <a:ext cx="1161288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9V battery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4133088"/>
            <a:ext cx="3209544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Sets the loop voltage that R1 and the LED share.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4133088"/>
            <a:ext cx="3108960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Flat/absent: nothing lights; 0 V around the loop.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555 LED Flasher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An IC timer blinks an LED — you set the speed with one R and one C.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5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87" y="1737360"/>
            <a:ext cx="2840785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BEGINNER+ · 1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Resistor  ·  Capacitor  ·  LED  ·  555 timer 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555 timer + 8-pin socket, R1 10k, R2 47k, C1 10µF, R3 470, LED, 9V.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Solder the socket first — never the hot 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Wire R1, R2 and C1 exactly per the schematic.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Insert the 555 into the socket last.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Pin 3 output swings 0 ↔ 9 V.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Time the flashes with a stopwatch.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Check f = 1.44 ÷ ((R1+2·R2)·C1).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555 LED Flasher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the R's and C set the speed, how the frequency is found, and what stalls the flash.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f = 1.44 ÷ ((R1 + 2·R2)·C1) = 1.44 ÷ (104k · 10µF) ≈ 1.4 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≈ 0.7 s per blink.  Verify: time 10 flashes ÷ 10.  Bigger R or C = slower flash.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R1 + R2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Set C1's charge/discharge path — together they fix the flash rate.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Either open: C1 can't cycle, so the flashing stops.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12998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412998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C1 10µF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412998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Timing tank; swings between ⅓ and ⅔ Vcc every cycle.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412998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Open: output frozen. Shorted: pins 2/6 stuck, no flash.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5052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845052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R3 470Ω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3845052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Limits LED current on the 555 output (pin 3).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3845052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Missing: LED over-driven and may fail. Open: LED dark.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77106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277106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555 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4277106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Watches C1's voltage and toggles the output — the 'brain'.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4277106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Dead or mis-inserted: no swing at pin 3, LED still.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Transistor Relay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A tiny input current switches a big load — safely.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re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279" y="1737360"/>
            <a:ext cx="2883801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INTERMEDIATE · 1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Transistor  ·  Resistor  ·  Diode  ·  Inductor (relay coil)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BC547 transistor, Rb 1k, a 12V relay, 1N4007 flyback diode, 12V supply.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Solder Rb to the base; emitter to GND.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Relay coil from collector up to +12V.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Fit D1 across the coil — band to +12V.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Base ≈ 0.7 V when switched 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Collector drops near 0 V; relay clicks.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D1 clamps the coil's reverse kick.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Transistor Relay Driver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the base resistor and flyback diode matter, how ON is proven, and what fails without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I_B = (Vin − 0.7V) ÷ Rb ≈ 4 mA  —  several× more than needed → Q1 saturates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Verify: base ≈ 0.7V and the collector drops to ~0.2V (Vce-sat) when switched 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Rb 1k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Feeds just enough base current to drive Q1 fully 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Open/too big: Q1 won't switch, runs hot. Too small: base fries.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12998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412998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Q1 BC547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412998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The switch — a tiny base current gates the big coil current.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412998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Shorted C-E: relay stuck on. Open: never energizes.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5052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845052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Relay coil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3845052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The inductive load; its magnetic field pulls the contacts.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3845052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 coil: no click; collector sits at +12 V.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77106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277106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D1 1N4007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4277106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Sits across the coil to catch the turn-off spike (back-EMF).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4277106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Missing: the spike destroys Q1. Backwards: shorts the supply.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Mini DC Power Supply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Turn AC into smooth DC — the front end of every adapter.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27632"/>
            <a:ext cx="4160520" cy="23042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hem_p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" y="1737360"/>
            <a:ext cx="3021177" cy="19202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182111" y="1737360"/>
            <a:ext cx="1389888" cy="27432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399" y="1737360"/>
            <a:ext cx="135331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FB02E"/>
                </a:solidFill>
                <a:latin typeface="Consolas"/>
              </a:rPr>
              <a:t>INTERMEDIATE · 1.5 HR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" y="3675887"/>
            <a:ext cx="3886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8FA89A"/>
                </a:solidFill>
                <a:latin typeface="Consolas"/>
              </a:rPr>
              <a:t>Read the schematic before you solder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041648"/>
            <a:ext cx="4160520" cy="65836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4114800"/>
            <a:ext cx="3831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 spc="100">
                <a:solidFill>
                  <a:srgbClr val="2BD576"/>
                </a:solidFill>
                <a:latin typeface="Consolas"/>
              </a:rPr>
              <a:t>COMPONENTS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" y="4352544"/>
            <a:ext cx="383133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E6F0EA"/>
                </a:solidFill>
                <a:latin typeface="Calibri"/>
              </a:rPr>
              <a:t>Diode  ·  Capacitor  ·  Inductor (transformer)  ·  Resistor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27632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719072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YOU'LL 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02352" y="1956816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Low-voltage transformer, 4× 1N4007 (bridge), C1 1000µF, R 1k, LED.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19472" y="2688336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2779776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BUILD &amp; SOLDER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2352" y="3017520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1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Solder the four-diode bridge.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2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Add C1 — watch its polarity!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B02E"/>
                </a:solidFill>
                <a:latin typeface="Consolas"/>
              </a:rPr>
              <a:t>3  </a:t>
            </a:r>
            <a:r>
              <a:rPr sz="1050" b="0" i="0">
                <a:solidFill>
                  <a:srgbClr val="E6F0EA"/>
                </a:solidFill>
                <a:latin typeface="Calibri"/>
              </a:rPr>
              <a:t>Fit the indicator LED and 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19472" y="3749039"/>
            <a:ext cx="3749039" cy="950975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02352" y="3840479"/>
            <a:ext cx="33832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2BD576"/>
                </a:solidFill>
                <a:latin typeface="Consolas"/>
              </a:rPr>
              <a:t>MEASURE &amp; VERIFY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4078224"/>
            <a:ext cx="3401568" cy="5669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Read AC in (VAC), then DC out (VDC).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Watch ripple shrink once C1 is fitted.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00" b="1" i="0">
                <a:solidFill>
                  <a:srgbClr val="FF6B6B"/>
                </a:solidFill>
                <a:latin typeface="Calibri"/>
              </a:rPr>
              <a:t>⚠ </a:t>
            </a:r>
            <a:r>
              <a:rPr sz="1050" b="0" i="0">
                <a:solidFill>
                  <a:srgbClr val="FF6B6B"/>
                </a:solidFill>
                <a:latin typeface="Calibri"/>
              </a:rPr>
              <a:t>Mains side supervised; discharge C1 after.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HANDS-ON LAB · PROJECT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Mini DC Power Supply — Why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Why each stage exists, how the DC voltage and ripple are estimated, and what each fault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LAB·04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572768"/>
            <a:ext cx="8229600" cy="932688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664208"/>
            <a:ext cx="7863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20">
                <a:solidFill>
                  <a:srgbClr val="FFB02E"/>
                </a:solidFill>
                <a:latin typeface="Consolas"/>
              </a:rPr>
              <a:t>WORKING OUT THE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01952"/>
            <a:ext cx="7818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DC out ≈ VAC × 1.414 − 1.4V (two diode drops).   9V AC → ~11–12V DC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1" i="0">
                <a:solidFill>
                  <a:srgbClr val="2BD576"/>
                </a:solidFill>
                <a:latin typeface="Consolas"/>
              </a:rPr>
              <a:t>Ripple ≈ I_load ÷ (f · C1),  with f = 100 Hz for a full-wave bridge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</a:pPr>
            <a:r>
              <a:rPr sz="1050" b="0" i="0">
                <a:solidFill>
                  <a:srgbClr val="E6F0EA"/>
                </a:solidFill>
                <a:latin typeface="Calibri"/>
              </a:rPr>
              <a:t>Verify: measure VAC in, then VDC out; watch ripple shrink once C1 is fitted.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15184"/>
            <a:ext cx="8046720" cy="365760"/>
          </a:xfrm>
          <a:prstGeom prst="rect">
            <a:avLst/>
          </a:prstGeom>
          <a:solidFill>
            <a:srgbClr val="16291F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" y="2615184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11095" y="261518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B02E"/>
                </a:solidFill>
                <a:latin typeface="Consolas"/>
              </a:rPr>
              <a:t>WHY IT'S PLACED HERE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0096" y="2615184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 spc="100">
                <a:solidFill>
                  <a:srgbClr val="FF6B6B"/>
                </a:solidFill>
                <a:latin typeface="Consolas"/>
              </a:rPr>
              <a:t>IF MISSING OR BROKEN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80944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2980944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11095" y="2980944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Steps mains down to safe low AC and isolates you from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980944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Open: no output. (Mains side — supervised only.)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412998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" y="3412998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Bridge 4×D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11095" y="3412998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Flips both halves of the AC the same way → pulsating DC.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3412998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One diode open: half-wave, double ripple. One shorted: blows parts.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845052"/>
            <a:ext cx="8046720" cy="432054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" y="3845052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C1 1000µF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11095" y="3845052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Charges on the peaks and fills the dips → smooth DC.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0096" y="3845052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Open/dried: big ripple returns. Reversed: it vents or explodes.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77106"/>
            <a:ext cx="8046720" cy="432054"/>
          </a:xfrm>
          <a:prstGeom prst="rect">
            <a:avLst/>
          </a:prstGeom>
          <a:solidFill>
            <a:srgbClr val="0F1C15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" y="4277106"/>
            <a:ext cx="1161288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R + 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11095" y="4277106"/>
            <a:ext cx="3209544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E6F0EA"/>
                </a:solidFill>
                <a:latin typeface="Calibri"/>
              </a:rPr>
              <a:t>Power-on indicator; R limits the LED current.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4277106"/>
            <a:ext cx="3108960" cy="4320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8FA89A"/>
                </a:solidFill>
                <a:latin typeface="Calibri"/>
              </a:rPr>
              <a:t>R open: LED dark, but the supply still works.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9326880" cy="5326380"/>
          </a:xfrm>
          <a:prstGeom prst="rect">
            <a:avLst/>
          </a:prstGeom>
          <a:solidFill>
            <a:srgbClr val="0B13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 spc="200">
                <a:solidFill>
                  <a:srgbClr val="FFB02E"/>
                </a:solidFill>
                <a:latin typeface="Consolas"/>
              </a:rPr>
              <a:t>MODULE 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8138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Trebuchet MS"/>
              </a:rPr>
              <a:t>You Can Now…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1">
                <a:solidFill>
                  <a:srgbClr val="8FA89A"/>
                </a:solidFill>
                <a:latin typeface="Calibri"/>
              </a:rPr>
              <a:t>By the end of this module, every recruit should be able to: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79" y="0"/>
            <a:ext cx="0" cy="50292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55279" y="502920"/>
            <a:ext cx="64008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40496" y="448056"/>
            <a:ext cx="109728" cy="109728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357616" y="246888"/>
            <a:ext cx="73152" cy="73152"/>
          </a:xfrm>
          <a:prstGeom prst="ellipse">
            <a:avLst/>
          </a:prstGeom>
          <a:solidFill>
            <a:srgbClr val="FFB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020056"/>
            <a:ext cx="502920" cy="0"/>
          </a:xfrm>
          <a:prstGeom prst="rect">
            <a:avLst/>
          </a:prstGeom>
          <a:noFill/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200" y="4965192"/>
            <a:ext cx="73152" cy="73152"/>
          </a:xfrm>
          <a:prstGeom prst="ellipse">
            <a:avLst/>
          </a:prstGeom>
          <a:solidFill>
            <a:srgbClr val="1F4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57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00" b="0" i="0">
                <a:solidFill>
                  <a:srgbClr val="8FA89A"/>
                </a:solidFill>
                <a:latin typeface="Consolas"/>
              </a:rPr>
              <a:t>MOD·00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91640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1810512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5" y="1691640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Name all five basic parts and say what each one does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58568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8368" y="2377440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5" y="2258568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Read a resistor's colour code and a capacitor's markings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25496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2944368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" y="2825496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Recognise real parts on a board — and their schematic symbols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392424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58368" y="3511296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3392424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Test each part with a multimeter and spot common failures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959352"/>
            <a:ext cx="5394960" cy="493776"/>
          </a:xfrm>
          <a:prstGeom prst="rect">
            <a:avLst/>
          </a:prstGeom>
          <a:solidFill>
            <a:srgbClr val="12211A"/>
          </a:solidFill>
          <a:ln w="12700">
            <a:solidFill>
              <a:srgbClr val="1F4D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" y="4078224"/>
            <a:ext cx="256032" cy="256032"/>
          </a:xfrm>
          <a:prstGeom prst="ellipse">
            <a:avLst/>
          </a:prstGeom>
          <a:solidFill>
            <a:srgbClr val="2BD5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0B130F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" y="3959352"/>
            <a:ext cx="4754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Build, solder and measure a working circuit from a schematic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1783080"/>
            <a:ext cx="2587752" cy="2468880"/>
          </a:xfrm>
          <a:prstGeom prst="rect">
            <a:avLst/>
          </a:prstGeom>
          <a:solidFill>
            <a:srgbClr val="12211A"/>
          </a:solidFill>
          <a:ln w="19050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86600" y="1993392"/>
            <a:ext cx="566928" cy="566928"/>
          </a:xfrm>
          <a:prstGeom prst="ellipse">
            <a:avLst/>
          </a:prstGeom>
          <a:solidFill>
            <a:srgbClr val="16291F"/>
          </a:solidFill>
          <a:ln w="22225">
            <a:solidFill>
              <a:srgbClr val="FFB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86600" y="199339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B02E"/>
                </a:solidFill>
                <a:latin typeface="Trebuchet MS"/>
              </a:rPr>
              <a:t>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743200"/>
            <a:ext cx="2221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 spc="150">
                <a:solidFill>
                  <a:srgbClr val="FFB02E"/>
                </a:solidFill>
                <a:latin typeface="Consolas"/>
              </a:rPr>
              <a:t>GOLDEN RULE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127248"/>
            <a:ext cx="222199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6F0EA"/>
                </a:solidFill>
                <a:latin typeface="Calibri"/>
              </a:rPr>
              <a:t>Power off and discharge capacitors before you probe anything.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